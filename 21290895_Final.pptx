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2" r:id="rId4"/>
    <p:sldId id="263" r:id="rId5"/>
    <p:sldId id="259" r:id="rId6"/>
    <p:sldId id="264" r:id="rId7"/>
    <p:sldId id="265" r:id="rId8"/>
    <p:sldId id="260" r:id="rId9"/>
    <p:sldId id="258" r:id="rId10"/>
    <p:sldId id="261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152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9" d="100"/>
          <a:sy n="99" d="100"/>
        </p:scale>
        <p:origin x="34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NOT Ekleme alanı</a:t>
            </a:r>
            <a:endParaRPr dirty="0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NOT Ekleme alanı</a:t>
            </a:r>
            <a:endParaRPr dirty="0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1240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NOT Ekleme alanı</a:t>
            </a:r>
            <a:endParaRPr dirty="0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7098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NOT Ekleme alanı</a:t>
            </a:r>
            <a:endParaRPr dirty="0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2803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NOT Ekleme alanı</a:t>
            </a:r>
            <a:endParaRPr dirty="0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1157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NOT Ekleme alanı</a:t>
            </a:r>
            <a:endParaRPr dirty="0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7244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NOT Ekleme alanı</a:t>
            </a:r>
            <a:endParaRPr dirty="0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4538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NOT Ekleme alanı</a:t>
            </a:r>
            <a:endParaRPr dirty="0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852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NOT Ekleme alanı</a:t>
            </a:r>
            <a:endParaRPr dirty="0"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7300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78" lvl="0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54" lvl="1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532" lvl="2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09" lvl="3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886" lvl="4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062" lvl="5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240" lvl="6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418" lvl="7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594" lvl="8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3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78" lvl="0" indent="-2285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54" lvl="1" indent="-228589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32" lvl="2" indent="-22858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09" lvl="3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886" lvl="4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062" lvl="5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240" lvl="6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418" lvl="7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594" lvl="8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457203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78" lvl="0" indent="-380981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354" lvl="1" indent="-355582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532" lvl="2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709" lvl="3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5886" lvl="4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062" lvl="5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240" lvl="6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418" lvl="7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594" lvl="8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3"/>
          </p:nvPr>
        </p:nvSpPr>
        <p:spPr>
          <a:xfrm>
            <a:off x="4645030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78" lvl="0" indent="-2285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54" lvl="1" indent="-228589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32" lvl="2" indent="-22858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09" lvl="3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886" lvl="4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062" lvl="5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240" lvl="6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418" lvl="7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594" lvl="8" indent="-22858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4"/>
          </p:nvPr>
        </p:nvSpPr>
        <p:spPr>
          <a:xfrm>
            <a:off x="4645030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78" lvl="0" indent="-380981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354" lvl="1" indent="-355582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532" lvl="2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709" lvl="3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5886" lvl="4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062" lvl="5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240" lvl="6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418" lvl="7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594" lvl="8" indent="-33018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ctrTitle"/>
          </p:nvPr>
        </p:nvSpPr>
        <p:spPr>
          <a:xfrm>
            <a:off x="685800" y="1597825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78" lvl="0" indent="-228589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354" lvl="1" indent="-228589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532" lvl="2" indent="-228589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709" lvl="3" indent="-228589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5886" lvl="4" indent="-228589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062" lvl="5" indent="-228589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240" lvl="6" indent="-228589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418" lvl="7" indent="-228589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594" lvl="8" indent="-228589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78" lvl="0" indent="-406381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354" lvl="1" indent="-380981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532" lvl="2" indent="-355582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709" lvl="3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5886" lvl="4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062" lvl="5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240" lvl="6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418" lvl="7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594" lvl="8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78" lvl="0" indent="-406381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354" lvl="1" indent="-380981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532" lvl="2" indent="-355582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709" lvl="3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5886" lvl="4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062" lvl="5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240" lvl="6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418" lvl="7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594" lvl="8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3" y="204794"/>
            <a:ext cx="5111751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78" lvl="0" indent="-43177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354" lvl="1" indent="-406381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532" lvl="2" indent="-380981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709" lvl="3" indent="-355582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5886" lvl="4" indent="-355582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062" lvl="5" indent="-355582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240" lvl="6" indent="-355582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418" lvl="7" indent="-355582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594" lvl="8" indent="-355582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5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78" lvl="0" indent="-228589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354" lvl="1" indent="-228589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532" lvl="2" indent="-228589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709" lvl="3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5886" lvl="4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062" lvl="5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240" lvl="6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418" lvl="7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594" lvl="8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4025509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78" lvl="0" indent="-228589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354" lvl="1" indent="-228589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532" lvl="2" indent="-228589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709" lvl="3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5886" lvl="4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062" lvl="5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240" lvl="6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418" lvl="7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594" lvl="8" indent="-22858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78" lvl="0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54" lvl="1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532" lvl="2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09" lvl="3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886" lvl="4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062" lvl="5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240" lvl="6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418" lvl="7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594" lvl="8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78" lvl="0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54" lvl="1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532" lvl="2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09" lvl="3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886" lvl="4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062" lvl="5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240" lvl="6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418" lvl="7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594" lvl="8" indent="-34288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pasbaa/BLM450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drive/folders/1dtnlY134WDVSt7Mx9a5GX9z5KIDg8V67?usp=shari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843"/>
            <a:ext cx="9144000" cy="514618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70164" y="1814086"/>
            <a:ext cx="854825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tr-TR" sz="28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Düşük Işık Koşullarında Görüntü Netleştirme</a:t>
            </a:r>
          </a:p>
          <a:p>
            <a:r>
              <a:rPr lang="tr-TR" sz="28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Ve Sınıflandırma</a:t>
            </a:r>
            <a:endParaRPr sz="2800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pic>
        <p:nvPicPr>
          <p:cNvPr id="3" name="Resim 2" descr="metin, daire, logo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EC4442F3-6D11-A602-3E89-DB32E38B0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809" y="243679"/>
            <a:ext cx="1282382" cy="1321885"/>
          </a:xfrm>
          <a:prstGeom prst="rect">
            <a:avLst/>
          </a:prstGeom>
        </p:spPr>
      </p:pic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72A561E6-2A0B-7327-C3E1-0AF2F8F27E83}"/>
              </a:ext>
            </a:extLst>
          </p:cNvPr>
          <p:cNvSpPr txBox="1"/>
          <p:nvPr/>
        </p:nvSpPr>
        <p:spPr>
          <a:xfrm>
            <a:off x="180109" y="3465255"/>
            <a:ext cx="535136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tr-TR" sz="20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Adı Soyadı: Perizat </a:t>
            </a:r>
            <a:r>
              <a:rPr lang="tr-TR" sz="2000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Sagynbekova</a:t>
            </a:r>
            <a:br>
              <a:rPr lang="tr-TR" sz="20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</a:br>
            <a:r>
              <a:rPr lang="tr-TR" sz="20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Numara: 21290895</a:t>
            </a:r>
          </a:p>
          <a:p>
            <a:r>
              <a:rPr lang="tr-TR" sz="2000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E-posta adresi: sagynbekovaperizat8@gmail.com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4"/>
          </p:nvPr>
        </p:nvSpPr>
        <p:spPr>
          <a:xfrm>
            <a:off x="304805" y="1352556"/>
            <a:ext cx="8537575" cy="296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tr-TR" dirty="0"/>
              <a:t>Problemin Tanımı</a:t>
            </a:r>
          </a:p>
          <a:p>
            <a:pPr marL="342900" indent="-342900">
              <a:spcBef>
                <a:spcPts val="0"/>
              </a:spcBef>
            </a:pPr>
            <a:r>
              <a:rPr lang="tr-TR" dirty="0"/>
              <a:t>Çözüm</a:t>
            </a:r>
          </a:p>
          <a:p>
            <a:pPr marL="342900" indent="-342900">
              <a:spcBef>
                <a:spcPts val="0"/>
              </a:spcBef>
            </a:pPr>
            <a:r>
              <a:rPr lang="tr-TR" dirty="0"/>
              <a:t>Neden Zero-DCE Tercih Edildi?</a:t>
            </a:r>
          </a:p>
          <a:p>
            <a:pPr marL="342900" indent="-342900">
              <a:spcBef>
                <a:spcPts val="0"/>
              </a:spcBef>
            </a:pPr>
            <a:r>
              <a:rPr lang="tr-TR" dirty="0"/>
              <a:t>Metodolojik Karşılaştırma</a:t>
            </a:r>
          </a:p>
          <a:p>
            <a:pPr marL="342900" indent="-342900">
              <a:spcBef>
                <a:spcPts val="0"/>
              </a:spcBef>
            </a:pPr>
            <a:r>
              <a:rPr lang="tr-TR" dirty="0"/>
              <a:t>Nicel Başarı: PSNR ve SSIM</a:t>
            </a:r>
          </a:p>
          <a:p>
            <a:pPr marL="342900" indent="-342900">
              <a:spcBef>
                <a:spcPts val="0"/>
              </a:spcBef>
            </a:pPr>
            <a:r>
              <a:rPr lang="tr-TR" dirty="0"/>
              <a:t>Uygulama ve Kullanıcı Deneyimi</a:t>
            </a:r>
          </a:p>
          <a:p>
            <a:pPr marL="342900" indent="-342900">
              <a:spcBef>
                <a:spcPts val="0"/>
              </a:spcBef>
            </a:pPr>
            <a:r>
              <a:rPr lang="tr-TR" dirty="0"/>
              <a:t>Linkler</a:t>
            </a:r>
            <a:endParaRPr dirty="0"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1143000" y="438151"/>
            <a:ext cx="78139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None/>
            </a:pPr>
            <a:r>
              <a:rPr lang="tr-TR" dirty="0">
                <a:solidFill>
                  <a:schemeClr val="lt1"/>
                </a:solidFill>
              </a:rPr>
              <a:t>İçerik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4"/>
          </p:nvPr>
        </p:nvSpPr>
        <p:spPr>
          <a:xfrm>
            <a:off x="304805" y="1352556"/>
            <a:ext cx="8537575" cy="296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tr-TR" b="1" dirty="0"/>
              <a:t>Neden düşük ışık iyileştirmesine ihtiyaç duyuyoruz?</a:t>
            </a:r>
          </a:p>
          <a:p>
            <a:pPr marL="342900" indent="-342900">
              <a:spcBef>
                <a:spcPts val="0"/>
              </a:spcBef>
            </a:pPr>
            <a:endParaRPr lang="tr-TR" b="1" dirty="0"/>
          </a:p>
          <a:p>
            <a:pPr marL="342900" indent="-342900">
              <a:spcBef>
                <a:spcPts val="0"/>
              </a:spcBef>
            </a:pPr>
            <a:r>
              <a:rPr lang="tr-TR" dirty="0"/>
              <a:t>Karanlık ve makine görüsü zorlukları temel kısıtları:</a:t>
            </a:r>
          </a:p>
          <a:p>
            <a:pPr marL="800076" lvl="1" indent="-342900">
              <a:spcBef>
                <a:spcPts val="0"/>
              </a:spcBef>
            </a:pPr>
            <a:r>
              <a:rPr lang="tr-TR" dirty="0"/>
              <a:t>Düşük Kontrast: Nesnelerin sınırlarının (kenar bilgilerinin) kaybolması.</a:t>
            </a:r>
          </a:p>
          <a:p>
            <a:pPr marL="800076" lvl="1" indent="-342900">
              <a:spcBef>
                <a:spcPts val="0"/>
              </a:spcBef>
            </a:pPr>
            <a:r>
              <a:rPr lang="tr-TR" dirty="0"/>
              <a:t>Sensör Gürültüsü: Elektronik kumlanmanın (</a:t>
            </a:r>
            <a:r>
              <a:rPr lang="tr-TR" dirty="0" err="1"/>
              <a:t>noise</a:t>
            </a:r>
            <a:r>
              <a:rPr lang="tr-TR" dirty="0"/>
              <a:t>) artması.</a:t>
            </a:r>
          </a:p>
          <a:p>
            <a:pPr marL="800076" lvl="1" indent="-342900">
              <a:spcBef>
                <a:spcPts val="0"/>
              </a:spcBef>
            </a:pPr>
            <a:r>
              <a:rPr lang="tr-TR" dirty="0"/>
              <a:t>Veri Kaybı: Sınıflandırma algoritmaları (</a:t>
            </a:r>
            <a:r>
              <a:rPr lang="tr-TR" dirty="0" err="1"/>
              <a:t>ResNet</a:t>
            </a:r>
            <a:r>
              <a:rPr lang="tr-TR" dirty="0"/>
              <a:t> vb.) için özellik çıkarımının imkansızlaşması.</a:t>
            </a:r>
          </a:p>
          <a:p>
            <a:pPr marL="800076" lvl="1" indent="-342900">
              <a:spcBef>
                <a:spcPts val="0"/>
              </a:spcBef>
            </a:pPr>
            <a:r>
              <a:rPr lang="tr-TR" dirty="0"/>
              <a:t>Uygulama Alanları: Otonom sürüş, gece güvenliği ve tıbbi görüntüleme.</a:t>
            </a:r>
          </a:p>
          <a:p>
            <a:pPr marL="342900" indent="-342900">
              <a:spcBef>
                <a:spcPts val="0"/>
              </a:spcBef>
            </a:pPr>
            <a:endParaRPr dirty="0"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1143000" y="438151"/>
            <a:ext cx="7813964" cy="56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None/>
            </a:pPr>
            <a:r>
              <a:rPr lang="en-US" dirty="0">
                <a:solidFill>
                  <a:schemeClr val="lt1"/>
                </a:solidFill>
              </a:rPr>
              <a:t>P</a:t>
            </a:r>
            <a:r>
              <a:rPr lang="tr-TR" dirty="0" err="1">
                <a:solidFill>
                  <a:schemeClr val="lt1"/>
                </a:solidFill>
              </a:rPr>
              <a:t>roblemin</a:t>
            </a:r>
            <a:r>
              <a:rPr lang="tr-TR" dirty="0">
                <a:solidFill>
                  <a:schemeClr val="lt1"/>
                </a:solidFill>
              </a:rPr>
              <a:t> Tanımı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132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4"/>
          </p:nvPr>
        </p:nvSpPr>
        <p:spPr>
          <a:xfrm>
            <a:off x="304805" y="1352556"/>
            <a:ext cx="8537575" cy="296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tr-TR" b="1" dirty="0"/>
              <a:t>Çözüm: Zero-Reference </a:t>
            </a:r>
            <a:r>
              <a:rPr lang="tr-TR" b="1" dirty="0" err="1"/>
              <a:t>Deep</a:t>
            </a:r>
            <a:r>
              <a:rPr lang="tr-TR" b="1" dirty="0"/>
              <a:t> </a:t>
            </a:r>
            <a:r>
              <a:rPr lang="tr-TR" b="1" dirty="0" err="1"/>
              <a:t>Curve</a:t>
            </a:r>
            <a:r>
              <a:rPr lang="tr-TR" b="1" dirty="0"/>
              <a:t> </a:t>
            </a:r>
            <a:r>
              <a:rPr lang="tr-TR" b="1" dirty="0" err="1"/>
              <a:t>Estimation</a:t>
            </a:r>
            <a:endParaRPr lang="tr-TR" b="1" dirty="0"/>
          </a:p>
          <a:p>
            <a:pPr marL="342900" indent="-342900">
              <a:spcBef>
                <a:spcPts val="0"/>
              </a:spcBef>
            </a:pPr>
            <a:endParaRPr lang="tr-TR" dirty="0"/>
          </a:p>
          <a:p>
            <a:pPr marL="342900" indent="-342900">
              <a:spcBef>
                <a:spcPts val="0"/>
              </a:spcBef>
            </a:pPr>
            <a:r>
              <a:rPr lang="tr-TR" dirty="0"/>
              <a:t>Zero-DCE, pikselleri doğrudan üretmek yerine görüntüyü iyileştiren matematiksel eğrileri tahmin eder.</a:t>
            </a:r>
          </a:p>
          <a:p>
            <a:pPr marL="800076" lvl="1" indent="-342900">
              <a:spcBef>
                <a:spcPts val="0"/>
              </a:spcBef>
            </a:pPr>
            <a:r>
              <a:rPr lang="tr-TR" dirty="0"/>
              <a:t>Referanssız Eğitim: Aydınlık bir "</a:t>
            </a:r>
            <a:r>
              <a:rPr lang="tr-TR" dirty="0" err="1"/>
              <a:t>Ground</a:t>
            </a:r>
            <a:r>
              <a:rPr lang="tr-TR" dirty="0"/>
              <a:t> </a:t>
            </a:r>
            <a:r>
              <a:rPr lang="tr-TR" dirty="0" err="1"/>
              <a:t>Truth</a:t>
            </a:r>
            <a:r>
              <a:rPr lang="tr-TR" dirty="0"/>
              <a:t>" görüntüsüne ihtiyaç duymaz.</a:t>
            </a:r>
          </a:p>
          <a:p>
            <a:pPr marL="800076" lvl="1" indent="-342900">
              <a:spcBef>
                <a:spcPts val="0"/>
              </a:spcBef>
            </a:pPr>
            <a:r>
              <a:rPr lang="tr-TR" dirty="0"/>
              <a:t>DCE-Net: Sadece 79K parametreli, son derece hafif bir CNN mimarisidir.</a:t>
            </a:r>
          </a:p>
          <a:p>
            <a:pPr marL="800076" lvl="1" indent="-342900">
              <a:spcBef>
                <a:spcPts val="0"/>
              </a:spcBef>
            </a:pPr>
            <a:r>
              <a:rPr lang="tr-TR" dirty="0"/>
              <a:t>İteratif Süreç: Işık eğrisini 8 adımda bükerek doğal aydınlatma sağlar.</a:t>
            </a:r>
          </a:p>
          <a:p>
            <a:pPr marL="342900" indent="-342900">
              <a:spcBef>
                <a:spcPts val="0"/>
              </a:spcBef>
            </a:pPr>
            <a:endParaRPr dirty="0"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1143000" y="438151"/>
            <a:ext cx="78139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None/>
            </a:pPr>
            <a:r>
              <a:rPr lang="tr-TR" dirty="0">
                <a:solidFill>
                  <a:schemeClr val="lt1"/>
                </a:solidFill>
              </a:rPr>
              <a:t>Çözüm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60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4"/>
          </p:nvPr>
        </p:nvSpPr>
        <p:spPr>
          <a:xfrm>
            <a:off x="304805" y="1352556"/>
            <a:ext cx="8537575" cy="296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tr-TR" b="1" dirty="0"/>
              <a:t>Gerçek Zamanlı Hız</a:t>
            </a:r>
            <a:r>
              <a:rPr lang="tr-TR" dirty="0"/>
              <a:t>: Düşük parametre sayısı sayesinde saniyede 45+ FPS işleme kapasitesi.</a:t>
            </a:r>
          </a:p>
          <a:p>
            <a:pPr marL="342900" indent="-342900">
              <a:spcBef>
                <a:spcPts val="0"/>
              </a:spcBef>
            </a:pPr>
            <a:r>
              <a:rPr lang="tr-TR" b="1" dirty="0"/>
              <a:t>Doğal Renkler</a:t>
            </a:r>
            <a:r>
              <a:rPr lang="tr-TR" dirty="0"/>
              <a:t>: Piksel üretmediği için "suluboya" etkisini yok eder, dokuyu korur.</a:t>
            </a:r>
          </a:p>
          <a:p>
            <a:pPr marL="342900" indent="-342900">
              <a:spcBef>
                <a:spcPts val="0"/>
              </a:spcBef>
            </a:pPr>
            <a:r>
              <a:rPr lang="tr-TR" b="1" dirty="0"/>
              <a:t>Donanım Dostu</a:t>
            </a:r>
            <a:r>
              <a:rPr lang="tr-TR" dirty="0"/>
              <a:t>: Mobil ve gömülü sistemlerde çalışabilecek kadar küçük bir mimari.</a:t>
            </a:r>
            <a:endParaRPr dirty="0"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1143000" y="438151"/>
            <a:ext cx="78139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None/>
            </a:pPr>
            <a:r>
              <a:rPr lang="tr-TR" dirty="0">
                <a:solidFill>
                  <a:schemeClr val="lt1"/>
                </a:solidFill>
              </a:rPr>
              <a:t>Neden Zero-DCE Tercih Edildi?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651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1143000" y="438151"/>
            <a:ext cx="78139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None/>
            </a:pPr>
            <a:r>
              <a:rPr lang="tr-TR" dirty="0">
                <a:solidFill>
                  <a:schemeClr val="lt1"/>
                </a:solidFill>
              </a:rPr>
              <a:t>Metodolojik Karşılaştırma</a:t>
            </a:r>
            <a:endParaRPr dirty="0">
              <a:solidFill>
                <a:schemeClr val="lt1"/>
              </a:solidFill>
            </a:endParaRPr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C68F970D-FA78-0FE0-438F-C787DDC03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736774"/>
              </p:ext>
            </p:extLst>
          </p:nvPr>
        </p:nvGraphicFramePr>
        <p:xfrm>
          <a:off x="793661" y="1766821"/>
          <a:ext cx="7556678" cy="1883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172">
                  <a:extLst>
                    <a:ext uri="{9D8B030D-6E8A-4147-A177-3AD203B41FA5}">
                      <a16:colId xmlns:a16="http://schemas.microsoft.com/office/drawing/2014/main" val="476426426"/>
                    </a:ext>
                  </a:extLst>
                </a:gridCol>
                <a:gridCol w="1649462">
                  <a:extLst>
                    <a:ext uri="{9D8B030D-6E8A-4147-A177-3AD203B41FA5}">
                      <a16:colId xmlns:a16="http://schemas.microsoft.com/office/drawing/2014/main" val="3550145239"/>
                    </a:ext>
                  </a:extLst>
                </a:gridCol>
                <a:gridCol w="2717503">
                  <a:extLst>
                    <a:ext uri="{9D8B030D-6E8A-4147-A177-3AD203B41FA5}">
                      <a16:colId xmlns:a16="http://schemas.microsoft.com/office/drawing/2014/main" val="541733297"/>
                    </a:ext>
                  </a:extLst>
                </a:gridCol>
                <a:gridCol w="1590541">
                  <a:extLst>
                    <a:ext uri="{9D8B030D-6E8A-4147-A177-3AD203B41FA5}">
                      <a16:colId xmlns:a16="http://schemas.microsoft.com/office/drawing/2014/main" val="1653520855"/>
                    </a:ext>
                  </a:extLst>
                </a:gridCol>
              </a:tblGrid>
              <a:tr h="627845">
                <a:tc>
                  <a:txBody>
                    <a:bodyPr/>
                    <a:lstStyle/>
                    <a:p>
                      <a:pPr algn="ctr"/>
                      <a:endParaRPr lang="tr-T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Yaklaşım</a:t>
                      </a:r>
                    </a:p>
                  </a:txBody>
                  <a:tcPr>
                    <a:solidFill>
                      <a:srgbClr val="152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Yöntem</a:t>
                      </a:r>
                    </a:p>
                  </a:txBody>
                  <a:tcPr>
                    <a:solidFill>
                      <a:srgbClr val="152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Karakteristik</a:t>
                      </a:r>
                    </a:p>
                  </a:txBody>
                  <a:tcPr>
                    <a:solidFill>
                      <a:srgbClr val="152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Hız/Performans</a:t>
                      </a:r>
                    </a:p>
                  </a:txBody>
                  <a:tcPr>
                    <a:solidFill>
                      <a:srgbClr val="152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393058"/>
                  </a:ext>
                </a:extLst>
              </a:tr>
              <a:tr h="627845"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Klasik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Ridge</a:t>
                      </a:r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+ </a:t>
                      </a:r>
                      <a:r>
                        <a:rPr lang="tr-TR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Sobel</a:t>
                      </a:r>
                      <a:endParaRPr lang="tr-T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HSV uzayında öznitelik mühendisliği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Orta / Orta kalite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048341"/>
                  </a:ext>
                </a:extLst>
              </a:tr>
              <a:tr h="627845"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Derin Öğrenme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Zero-DCE</a:t>
                      </a:r>
                      <a:endParaRPr lang="tr-TR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Sıfır referanslı eğri tahmini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Hızlı / Yüksek kalite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084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522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1143000" y="438151"/>
            <a:ext cx="78139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None/>
            </a:pPr>
            <a:r>
              <a:rPr lang="tr-TR" dirty="0">
                <a:solidFill>
                  <a:schemeClr val="lt1"/>
                </a:solidFill>
              </a:rPr>
              <a:t>Nicel Başarı: PSNR ve SSIM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3" name="Grup 12">
            <a:extLst>
              <a:ext uri="{FF2B5EF4-FFF2-40B4-BE49-F238E27FC236}">
                <a16:creationId xmlns:a16="http://schemas.microsoft.com/office/drawing/2014/main" id="{B880794E-0C9F-9E77-909C-7844703C0A0D}"/>
              </a:ext>
            </a:extLst>
          </p:cNvPr>
          <p:cNvGrpSpPr/>
          <p:nvPr/>
        </p:nvGrpSpPr>
        <p:grpSpPr>
          <a:xfrm>
            <a:off x="2929943" y="1650838"/>
            <a:ext cx="5162277" cy="371147"/>
            <a:chOff x="2929943" y="1650838"/>
            <a:chExt cx="5162277" cy="371147"/>
          </a:xfrm>
        </p:grpSpPr>
        <p:sp>
          <p:nvSpPr>
            <p:cNvPr id="9" name="Dikdörtgen: Köşeleri Yuvarlatılmış 8">
              <a:extLst>
                <a:ext uri="{FF2B5EF4-FFF2-40B4-BE49-F238E27FC236}">
                  <a16:creationId xmlns:a16="http://schemas.microsoft.com/office/drawing/2014/main" id="{328B446C-55B2-CD43-0AF7-50B825B008ED}"/>
                </a:ext>
              </a:extLst>
            </p:cNvPr>
            <p:cNvSpPr/>
            <p:nvPr/>
          </p:nvSpPr>
          <p:spPr>
            <a:xfrm>
              <a:off x="2929943" y="1650838"/>
              <a:ext cx="5162277" cy="37114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DCE6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0" name="Dikdörtgen: Köşeleri Yuvarlatılmış 9">
              <a:extLst>
                <a:ext uri="{FF2B5EF4-FFF2-40B4-BE49-F238E27FC236}">
                  <a16:creationId xmlns:a16="http://schemas.microsoft.com/office/drawing/2014/main" id="{F6969EEC-62A9-8032-5665-12B52D8592F6}"/>
                </a:ext>
              </a:extLst>
            </p:cNvPr>
            <p:cNvSpPr/>
            <p:nvPr/>
          </p:nvSpPr>
          <p:spPr>
            <a:xfrm>
              <a:off x="2929943" y="1650838"/>
              <a:ext cx="4668592" cy="371147"/>
            </a:xfrm>
            <a:prstGeom prst="roundRect">
              <a:avLst>
                <a:gd name="adj" fmla="val 50000"/>
              </a:avLst>
            </a:prstGeom>
            <a:solidFill>
              <a:srgbClr val="15274F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		       	                        19.96 dB</a:t>
              </a:r>
            </a:p>
          </p:txBody>
        </p:sp>
      </p:grpSp>
      <p:grpSp>
        <p:nvGrpSpPr>
          <p:cNvPr id="14" name="Grup 13">
            <a:extLst>
              <a:ext uri="{FF2B5EF4-FFF2-40B4-BE49-F238E27FC236}">
                <a16:creationId xmlns:a16="http://schemas.microsoft.com/office/drawing/2014/main" id="{3652AC81-862E-9D67-6AA4-8AF2990F0890}"/>
              </a:ext>
            </a:extLst>
          </p:cNvPr>
          <p:cNvGrpSpPr/>
          <p:nvPr/>
        </p:nvGrpSpPr>
        <p:grpSpPr>
          <a:xfrm>
            <a:off x="2929942" y="2138089"/>
            <a:ext cx="5162277" cy="371147"/>
            <a:chOff x="2929943" y="1650838"/>
            <a:chExt cx="5162277" cy="371147"/>
          </a:xfrm>
        </p:grpSpPr>
        <p:sp>
          <p:nvSpPr>
            <p:cNvPr id="15" name="Dikdörtgen: Köşeleri Yuvarlatılmış 14">
              <a:extLst>
                <a:ext uri="{FF2B5EF4-FFF2-40B4-BE49-F238E27FC236}">
                  <a16:creationId xmlns:a16="http://schemas.microsoft.com/office/drawing/2014/main" id="{2014ED90-7937-9B91-4CD0-287BC7F2C07B}"/>
                </a:ext>
              </a:extLst>
            </p:cNvPr>
            <p:cNvSpPr/>
            <p:nvPr/>
          </p:nvSpPr>
          <p:spPr>
            <a:xfrm>
              <a:off x="2929943" y="1650838"/>
              <a:ext cx="5162277" cy="37114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DCE6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6" name="Dikdörtgen: Köşeleri Yuvarlatılmış 15">
              <a:extLst>
                <a:ext uri="{FF2B5EF4-FFF2-40B4-BE49-F238E27FC236}">
                  <a16:creationId xmlns:a16="http://schemas.microsoft.com/office/drawing/2014/main" id="{4B7C1551-BC98-9427-CF70-D78E730B6CE0}"/>
                </a:ext>
              </a:extLst>
            </p:cNvPr>
            <p:cNvSpPr/>
            <p:nvPr/>
          </p:nvSpPr>
          <p:spPr>
            <a:xfrm>
              <a:off x="2929944" y="1650838"/>
              <a:ext cx="1577664" cy="371147"/>
            </a:xfrm>
            <a:prstGeom prst="roundRect">
              <a:avLst>
                <a:gd name="adj" fmla="val 50000"/>
              </a:avLst>
            </a:prstGeom>
            <a:solidFill>
              <a:srgbClr val="15274F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       5.97 dB</a:t>
              </a:r>
            </a:p>
          </p:txBody>
        </p:sp>
      </p:grpSp>
      <p:grpSp>
        <p:nvGrpSpPr>
          <p:cNvPr id="17" name="Grup 16">
            <a:extLst>
              <a:ext uri="{FF2B5EF4-FFF2-40B4-BE49-F238E27FC236}">
                <a16:creationId xmlns:a16="http://schemas.microsoft.com/office/drawing/2014/main" id="{13B4A4B0-CAEF-03D2-5BF4-71CD1F70CC1D}"/>
              </a:ext>
            </a:extLst>
          </p:cNvPr>
          <p:cNvGrpSpPr/>
          <p:nvPr/>
        </p:nvGrpSpPr>
        <p:grpSpPr>
          <a:xfrm>
            <a:off x="2929941" y="3002948"/>
            <a:ext cx="5162277" cy="371147"/>
            <a:chOff x="2929943" y="1650838"/>
            <a:chExt cx="5162277" cy="371147"/>
          </a:xfrm>
        </p:grpSpPr>
        <p:sp>
          <p:nvSpPr>
            <p:cNvPr id="18" name="Dikdörtgen: Köşeleri Yuvarlatılmış 17">
              <a:extLst>
                <a:ext uri="{FF2B5EF4-FFF2-40B4-BE49-F238E27FC236}">
                  <a16:creationId xmlns:a16="http://schemas.microsoft.com/office/drawing/2014/main" id="{C0228B9B-8A02-0DEF-B284-ED7A9ACF98E2}"/>
                </a:ext>
              </a:extLst>
            </p:cNvPr>
            <p:cNvSpPr/>
            <p:nvPr/>
          </p:nvSpPr>
          <p:spPr>
            <a:xfrm>
              <a:off x="2929943" y="1650838"/>
              <a:ext cx="5162277" cy="37114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DCE6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9" name="Dikdörtgen: Köşeleri Yuvarlatılmış 18">
              <a:extLst>
                <a:ext uri="{FF2B5EF4-FFF2-40B4-BE49-F238E27FC236}">
                  <a16:creationId xmlns:a16="http://schemas.microsoft.com/office/drawing/2014/main" id="{F118EF7A-4B68-13D4-6CD6-C8A76D393426}"/>
                </a:ext>
              </a:extLst>
            </p:cNvPr>
            <p:cNvSpPr/>
            <p:nvPr/>
          </p:nvSpPr>
          <p:spPr>
            <a:xfrm>
              <a:off x="2929943" y="1650838"/>
              <a:ext cx="3665018" cy="371147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5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	         		     0.75</a:t>
              </a:r>
            </a:p>
          </p:txBody>
        </p:sp>
      </p:grpSp>
      <p:grpSp>
        <p:nvGrpSpPr>
          <p:cNvPr id="20" name="Grup 19">
            <a:extLst>
              <a:ext uri="{FF2B5EF4-FFF2-40B4-BE49-F238E27FC236}">
                <a16:creationId xmlns:a16="http://schemas.microsoft.com/office/drawing/2014/main" id="{34C46428-4B5C-D74B-B2C9-A4ACDC04ABD0}"/>
              </a:ext>
            </a:extLst>
          </p:cNvPr>
          <p:cNvGrpSpPr/>
          <p:nvPr/>
        </p:nvGrpSpPr>
        <p:grpSpPr>
          <a:xfrm>
            <a:off x="2929940" y="3490198"/>
            <a:ext cx="5162277" cy="371147"/>
            <a:chOff x="2929943" y="1650838"/>
            <a:chExt cx="5162277" cy="371147"/>
          </a:xfrm>
        </p:grpSpPr>
        <p:sp>
          <p:nvSpPr>
            <p:cNvPr id="21" name="Dikdörtgen: Köşeleri Yuvarlatılmış 20">
              <a:extLst>
                <a:ext uri="{FF2B5EF4-FFF2-40B4-BE49-F238E27FC236}">
                  <a16:creationId xmlns:a16="http://schemas.microsoft.com/office/drawing/2014/main" id="{61720168-EADC-E5ED-73DE-A7AB4614AF11}"/>
                </a:ext>
              </a:extLst>
            </p:cNvPr>
            <p:cNvSpPr/>
            <p:nvPr/>
          </p:nvSpPr>
          <p:spPr>
            <a:xfrm>
              <a:off x="2929943" y="1650838"/>
              <a:ext cx="5162277" cy="37114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DCE6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Dikdörtgen: Köşeleri Yuvarlatılmış 21">
              <a:extLst>
                <a:ext uri="{FF2B5EF4-FFF2-40B4-BE49-F238E27FC236}">
                  <a16:creationId xmlns:a16="http://schemas.microsoft.com/office/drawing/2014/main" id="{4C999271-43BD-365E-2A3F-778F43332A43}"/>
                </a:ext>
              </a:extLst>
            </p:cNvPr>
            <p:cNvSpPr/>
            <p:nvPr/>
          </p:nvSpPr>
          <p:spPr>
            <a:xfrm>
              <a:off x="2929944" y="1650838"/>
              <a:ext cx="1834156" cy="371147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5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                   0.21</a:t>
              </a:r>
            </a:p>
          </p:txBody>
        </p:sp>
      </p:grp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BB396C6B-D9EA-E94C-C2C8-D4B95A09454E}"/>
              </a:ext>
            </a:extLst>
          </p:cNvPr>
          <p:cNvSpPr txBox="1"/>
          <p:nvPr/>
        </p:nvSpPr>
        <p:spPr>
          <a:xfrm>
            <a:off x="740535" y="165265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PSNR (Zero-DCE):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79BB3B93-330E-F518-6A3F-F8D8BD17B2C7}"/>
              </a:ext>
            </a:extLst>
          </p:cNvPr>
          <p:cNvSpPr txBox="1"/>
          <p:nvPr/>
        </p:nvSpPr>
        <p:spPr>
          <a:xfrm>
            <a:off x="740535" y="2139903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PSNR (Klasik ML):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40F61CB5-F290-E425-DC3E-CEAEDD930AB7}"/>
              </a:ext>
            </a:extLst>
          </p:cNvPr>
          <p:cNvSpPr txBox="1"/>
          <p:nvPr/>
        </p:nvSpPr>
        <p:spPr>
          <a:xfrm>
            <a:off x="740535" y="3004762"/>
            <a:ext cx="180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SSIM (Zero-DCE):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79579FAD-9FD1-E31F-CCBD-2AF425D8D20E}"/>
              </a:ext>
            </a:extLst>
          </p:cNvPr>
          <p:cNvSpPr txBox="1"/>
          <p:nvPr/>
        </p:nvSpPr>
        <p:spPr>
          <a:xfrm>
            <a:off x="740535" y="3490198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SSIM (Klasik ML):</a:t>
            </a:r>
          </a:p>
        </p:txBody>
      </p:sp>
    </p:spTree>
    <p:extLst>
      <p:ext uri="{BB962C8B-B14F-4D97-AF65-F5344CB8AC3E}">
        <p14:creationId xmlns:p14="http://schemas.microsoft.com/office/powerpoint/2010/main" val="1454859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4"/>
          </p:nvPr>
        </p:nvSpPr>
        <p:spPr>
          <a:xfrm>
            <a:off x="303212" y="1290211"/>
            <a:ext cx="8480180" cy="296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tr-TR" b="1" dirty="0" err="1"/>
              <a:t>Streamlit</a:t>
            </a:r>
            <a:r>
              <a:rPr lang="tr-TR" b="1" dirty="0"/>
              <a:t> Web Arayüzü</a:t>
            </a:r>
          </a:p>
          <a:p>
            <a:pPr marL="342900" indent="-342900">
              <a:spcBef>
                <a:spcPts val="0"/>
              </a:spcBef>
            </a:pPr>
            <a:r>
              <a:rPr lang="tr-TR" dirty="0"/>
              <a:t>Teorik modeli pratik bir araca dönüştürdük:</a:t>
            </a:r>
          </a:p>
          <a:p>
            <a:pPr marL="800076" lvl="1" indent="-342900">
              <a:spcBef>
                <a:spcPts val="0"/>
              </a:spcBef>
            </a:pPr>
            <a:r>
              <a:rPr lang="tr-TR" dirty="0"/>
              <a:t>Dinamik </a:t>
            </a:r>
            <a:r>
              <a:rPr lang="tr-TR" dirty="0" err="1"/>
              <a:t>Slider</a:t>
            </a:r>
            <a:r>
              <a:rPr lang="tr-TR" dirty="0"/>
              <a:t>: Kullanıcı kontrollü parlaklık.</a:t>
            </a:r>
          </a:p>
          <a:p>
            <a:pPr marL="800076" lvl="1" indent="-342900">
              <a:spcBef>
                <a:spcPts val="0"/>
              </a:spcBef>
            </a:pPr>
            <a:r>
              <a:rPr lang="tr-TR" dirty="0"/>
              <a:t>Gama Düzeltme: Post-</a:t>
            </a:r>
            <a:r>
              <a:rPr lang="tr-TR" dirty="0" err="1"/>
              <a:t>processing</a:t>
            </a:r>
            <a:r>
              <a:rPr lang="tr-TR" dirty="0"/>
              <a:t> ile aşırı patlamaları önleme.</a:t>
            </a:r>
            <a:endParaRPr dirty="0"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1143000" y="438151"/>
            <a:ext cx="78139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None/>
            </a:pPr>
            <a:r>
              <a:rPr lang="tr-TR" dirty="0">
                <a:solidFill>
                  <a:schemeClr val="lt1"/>
                </a:solidFill>
              </a:rPr>
              <a:t>Uygulama ve Kullanıcı Deneyimi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3" name="Resim 2" descr="ekran görüntüsü, çizgi film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B7D17EF-34B3-450E-8C96-4B226A7C4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107" y="2837631"/>
            <a:ext cx="4275786" cy="202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64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4"/>
          </p:nvPr>
        </p:nvSpPr>
        <p:spPr>
          <a:xfrm>
            <a:off x="304805" y="1352556"/>
            <a:ext cx="8537575" cy="296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spcBef>
                <a:spcPts val="0"/>
              </a:spcBef>
            </a:pPr>
            <a:r>
              <a:rPr lang="tr-TR" dirty="0" err="1"/>
              <a:t>GitHub</a:t>
            </a:r>
            <a:r>
              <a:rPr lang="tr-TR" dirty="0"/>
              <a:t>: </a:t>
            </a:r>
            <a:r>
              <a:rPr lang="tr-TR" dirty="0">
                <a:hlinkClick r:id="rId3"/>
              </a:rPr>
              <a:t>https://github.com/Impasbaa/BLM4504</a:t>
            </a:r>
            <a:endParaRPr lang="tr-TR" dirty="0"/>
          </a:p>
          <a:p>
            <a:pPr marL="342900" indent="-342900">
              <a:spcBef>
                <a:spcPts val="0"/>
              </a:spcBef>
            </a:pPr>
            <a:r>
              <a:rPr lang="tr-TR" dirty="0"/>
              <a:t>Drive: </a:t>
            </a:r>
            <a:r>
              <a:rPr lang="tr-TR" dirty="0">
                <a:hlinkClick r:id="rId4"/>
              </a:rPr>
              <a:t>https://drive.google.com/drive/folders/1dtnlY134WDVSt7Mx9a5GX9z5KIDg8V67?usp=sharing</a:t>
            </a:r>
            <a:endParaRPr lang="tr-TR" dirty="0"/>
          </a:p>
          <a:p>
            <a:pPr marL="342900" indent="-342900">
              <a:spcBef>
                <a:spcPts val="0"/>
              </a:spcBef>
            </a:pPr>
            <a:endParaRPr dirty="0"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1143000" y="438151"/>
            <a:ext cx="78139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None/>
            </a:pPr>
            <a:r>
              <a:rPr lang="tr-TR" dirty="0">
                <a:solidFill>
                  <a:schemeClr val="lt1"/>
                </a:solidFill>
              </a:rPr>
              <a:t>Linkler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34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4"/>
          </p:nvPr>
        </p:nvSpPr>
        <p:spPr>
          <a:xfrm>
            <a:off x="4237903" y="2477867"/>
            <a:ext cx="4906097" cy="619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tr-TR" sz="2600" dirty="0"/>
              <a:t>Dinlediğiniz için teşekkürler…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4"/>
          </p:nvPr>
        </p:nvSpPr>
        <p:spPr>
          <a:xfrm>
            <a:off x="1143000" y="438151"/>
            <a:ext cx="78139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None/>
            </a:pPr>
            <a:r>
              <a:rPr lang="tr-TR" dirty="0">
                <a:solidFill>
                  <a:schemeClr val="lt1"/>
                </a:solidFill>
              </a:rPr>
              <a:t>Teşekkür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4" name="Resim 3" descr="daire, metin, amblem, logo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D90795C9-95E1-2A08-D793-56F2FF243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26" y="1143000"/>
            <a:ext cx="3456672" cy="356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60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396</Words>
  <Application>Microsoft Office PowerPoint</Application>
  <PresentationFormat>Ekran Gösterisi (16:9)</PresentationFormat>
  <Paragraphs>87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Calibri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FLEX V</dc:creator>
  <cp:lastModifiedBy>PERIZAT SAGYNBEKOVA</cp:lastModifiedBy>
  <cp:revision>6</cp:revision>
  <dcterms:modified xsi:type="dcterms:W3CDTF">2026-05-15T08:36:22Z</dcterms:modified>
</cp:coreProperties>
</file>